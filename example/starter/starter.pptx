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</Relationships>
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Starter 页面演示：包含标准页眉、双栏数据表格、带箭头的连接线、图标与标准页脚。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600">
          <a:solidFill>
            <a:srgbClr val="$ink"/>
          </a:solidFill>
          <a:latin typeface="思源宋体"/>
          <a:ea typeface="思源宋体"/>
          <a:cs typeface="思源宋体"/>
        </a:defRPr>
      </a:lvl1pPr>
    </p:titleStyle>
    <p:bodyStyle>
      <a:lvl1pPr>
        <a:lnSpc>
          <a:spcPct val="150000"/>
        </a:lnSpc>
        <a:defRPr sz="1300">
          <a:solidFill>
            <a:srgbClr val="$ink"/>
          </a:solidFill>
          <a:latin typeface="思源黑体"/>
          <a:ea typeface="思源黑体"/>
          <a:cs typeface="思源黑体"/>
        </a:defRPr>
      </a:lvl1pPr>
    </p:bodyStyle>
    <p:otherStyle>
      <a:lvl1pPr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pptd="https://kimi-design.msh.team/pptd/2026">
  <p:cSld>
    <p:bg>
      <p:bgPr>
        <a:solidFill>
          <a:srgbClr val="F8FAFC"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tle">
          </p:cNvPr>
          <p:cNvSpPr txBox="1"/>
          <p:nvPr/>
        </p:nvSpPr>
        <p:spPr>
          <a:xfrm>
            <a:off x="762000" y="508000"/>
            <a:ext cx="10668000" cy="457200"/>
          </a:xfrm>
          <a:prstGeom prst="rect">
            <a:avLst/>
          </a:prstGeom>
          <a:noFill/>
        </p:spPr>
        <p:txBody>
          <a:bodyPr lIns="0" rIns="0" tIns="0" bIns="0" wrap="square" rtlCol="0" anchor="t">
            <a:normAutofit/>
          </a:bodyPr>
          <a:lstStyle/>
          <a:p>
            <a:pPr algn="l">
            </a:pPr>
            <a:r>
              <a:rPr lang="en-US" sz="2600" noProof="1" b="1">
                <a:solidFill>
                  <a:srgbClr val="1E293B">
                  </a:srgbClr>
                </a:solidFill>
                <a:latin typeface="Georgia"/>
                <a:ea typeface="SimSun"/>
                <a:cs typeface="Georgia"/>
              </a:rPr>
              <a:t>极简 Starter 标杆模版</a:t>
            </a:r>
            <a:endParaRPr lang="en-US" sz="2600" noProof="1"/>
          </a:p>
        </p:txBody>
      </p:sp>
      <p:sp>
        <p:nvSpPr>
          <p:cNvPr id="3" name="header-subtitle">
          </p:cNvPr>
          <p:cNvSpPr txBox="1"/>
          <p:nvPr/>
        </p:nvSpPr>
        <p:spPr>
          <a:xfrm>
            <a:off x="762000" y="990600"/>
            <a:ext cx="10668000" cy="304800"/>
          </a:xfrm>
          <a:prstGeom prst="rect">
            <a:avLst/>
          </a:prstGeom>
          <a:noFill/>
        </p:spPr>
        <p:txBody>
          <a:bodyPr lIns="0" rIns="0" tIns="0" bIns="0" wrap="square" rtlCol="0" anchor="t">
            <a:normAutofit/>
          </a:bodyPr>
          <a:lstStyle/>
          <a:p>
            <a:pPr algn="l">
            </a:pPr>
            <a:r>
              <a:rPr lang="en-US" sz="1400" noProof="1">
                <a:solidFill>
                  <a:srgbClr val="64748B">
                  </a:srgbClr>
                </a:solidFill>
                <a:latin typeface="思源黑体"/>
                <a:ea typeface="Microsoft YaHei"/>
                <a:cs typeface="思源黑体"/>
              </a:rPr>
              <a:t>开箱即用的声明式元素组合：页眉、数据表格、箭头连线、形状与页脚</a:t>
            </a:r>
            <a:endParaRPr lang="en-US" sz="1400" noProof="1"/>
          </a:p>
        </p:txBody>
      </p:sp>
      <p:cxnSp>
        <p:nvCxnSpPr>
          <p:cNvPr id="4" name="header-line">
          </p:cNvPr>
          <p:cNvCxnSpPr/>
          <p:nvPr/>
        </p:nvCxnSpPr>
        <p:spPr>
          <a:xfrm>
            <a:off x="762000" y="1397000"/>
            <a:ext cx="10668000" cy="0"/>
          </a:xfrm>
          <a:prstGeom prst="line">
            <a:avLst/>
          </a:prstGeom>
          <a:ln w="12700" cmpd="sng" cap="rnd">
            <a:solidFill>
              <a:srgbClr val="E2E8F0">
              </a:srgbClr>
            </a:solidFill>
            <a:prstDash val="solid"/>
            <a:round/>
          </a:ln>
        </p:spPr>
      </p:cxnSp>
      <p:sp>
        <p:nvSpPr>
          <p:cNvPr id="5" name="card-bg">
          </p:cNvPr>
          <p:cNvSpPr/>
          <p:nvPr/>
        </p:nvSpPr>
        <p:spPr>
          <a:xfrm>
            <a:off x="762000" y="1651000"/>
            <a:ext cx="4953000" cy="4064000"/>
          </a:xfrm>
          <a:prstGeom prst="roundRect">
            <a:avLst>
            </a:avLst>
          </a:prstGeom>
          <a:solidFill>
            <a:srgbClr val="FFFFFF">
            </a:srgbClr>
          </a:solidFill>
          <a:ln w="12700">
            <a:solidFill>
              <a:srgbClr val="E2E8F0">
              </a:srgbClr>
            </a:solidFill>
            <a:prstDash val="solid"/>
          </a:ln>
        </p:spPr>
      </p:sp>
      <p:sp>
        <p:nvSpPr>
          <p:cNvPr id="6" name="card-icon">
          </p:cNvPr>
          <p:cNvSpPr/>
          <p:nvPr>
            <p:extLst>
              <p:ext uri="{F5677B7D-0D2A-4D9B-9A5C-6D8D7D0E5A5D}">
                <pptd:icon encoding="base64url">
eyJpY29uTmFtZSI6ImZhLWN1YmVzIn0                </pptd:icon>
              </p:ext>
            </p:extLst>
          </p:nvPr>
        </p:nvSpPr>
        <p:spPr>
          <a:xfrm>
            <a:off x="1079500" y="196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4" y="-1"/>
                </a:moveTo>
                <a:cubicBezTo>
                  <a:pt x="267" y="-11"/>
                  <a:pt x="245" y="-11"/>
                  <a:pt x="228" y="-1"/>
                </a:cubicBezTo>
                <a:lnTo>
                  <a:pt x="144" y="47"/>
                </a:lnTo>
                <a:cubicBezTo>
                  <a:pt x="127" y="57"/>
                  <a:pt x="116" y="76"/>
                  <a:pt x="116" y="96"/>
                </a:cubicBezTo>
                <a:lnTo>
                  <a:pt x="116" y="198"/>
                </a:lnTo>
                <a:lnTo>
                  <a:pt x="28" y="249"/>
                </a:lnTo>
                <a:cubicBezTo>
                  <a:pt x="10" y="259"/>
                  <a:pt x="0" y="277"/>
                  <a:pt x="0" y="297"/>
                </a:cubicBezTo>
                <a:lnTo>
                  <a:pt x="0" y="395"/>
                </a:lnTo>
                <a:cubicBezTo>
                  <a:pt x="0" y="415"/>
                  <a:pt x="10" y="433"/>
                  <a:pt x="28" y="443"/>
                </a:cubicBezTo>
                <a:lnTo>
                  <a:pt x="112" y="492"/>
                </a:lnTo>
                <a:cubicBezTo>
                  <a:pt x="129" y="502"/>
                  <a:pt x="151" y="502"/>
                  <a:pt x="168" y="492"/>
                </a:cubicBezTo>
                <a:lnTo>
                  <a:pt x="256" y="441"/>
                </a:lnTo>
                <a:lnTo>
                  <a:pt x="344" y="492"/>
                </a:lnTo>
                <a:cubicBezTo>
                  <a:pt x="362" y="502"/>
                  <a:pt x="383" y="502"/>
                  <a:pt x="400" y="492"/>
                </a:cubicBezTo>
                <a:lnTo>
                  <a:pt x="485" y="443"/>
                </a:lnTo>
                <a:cubicBezTo>
                  <a:pt x="502" y="433"/>
                  <a:pt x="513" y="415"/>
                  <a:pt x="513" y="395"/>
                </a:cubicBezTo>
                <a:lnTo>
                  <a:pt x="513" y="297"/>
                </a:lnTo>
                <a:cubicBezTo>
                  <a:pt x="513" y="277"/>
                  <a:pt x="502" y="259"/>
                  <a:pt x="485" y="249"/>
                </a:cubicBezTo>
                <a:lnTo>
                  <a:pt x="396" y="198"/>
                </a:lnTo>
                <a:lnTo>
                  <a:pt x="396" y="96"/>
                </a:lnTo>
                <a:cubicBezTo>
                  <a:pt x="396" y="76"/>
                  <a:pt x="386" y="57"/>
                  <a:pt x="368" y="47"/>
                </a:cubicBezTo>
                <a:lnTo>
                  <a:pt x="284" y="-1"/>
                </a:lnTo>
                <a:close/>
                <a:moveTo>
                  <a:pt x="232" y="293"/>
                </a:moveTo>
                <a:lnTo>
                  <a:pt x="232" y="399"/>
                </a:lnTo>
                <a:lnTo>
                  <a:pt x="144" y="450"/>
                </a:lnTo>
                <a:cubicBezTo>
                  <a:pt x="143" y="451"/>
                  <a:pt x="141" y="451"/>
                  <a:pt x="140" y="451"/>
                </a:cubicBezTo>
                <a:lnTo>
                  <a:pt x="140" y="346"/>
                </a:lnTo>
                <a:lnTo>
                  <a:pt x="232" y="293"/>
                </a:lnTo>
                <a:close/>
                <a:moveTo>
                  <a:pt x="463" y="293"/>
                </a:moveTo>
                <a:cubicBezTo>
                  <a:pt x="464" y="294"/>
                  <a:pt x="465" y="296"/>
                  <a:pt x="465" y="297"/>
                </a:cubicBezTo>
                <a:lnTo>
                  <a:pt x="465" y="395"/>
                </a:lnTo>
                <a:cubicBezTo>
                  <a:pt x="465" y="397"/>
                  <a:pt x="463" y="400"/>
                  <a:pt x="461" y="401"/>
                </a:cubicBezTo>
                <a:lnTo>
                  <a:pt x="376" y="450"/>
                </a:lnTo>
                <a:cubicBezTo>
                  <a:pt x="375" y="451"/>
                  <a:pt x="374" y="451"/>
                  <a:pt x="372" y="451"/>
                </a:cubicBezTo>
                <a:lnTo>
                  <a:pt x="372" y="346"/>
                </a:lnTo>
                <a:lnTo>
                  <a:pt x="463" y="293"/>
                </a:lnTo>
                <a:close/>
                <a:moveTo>
                  <a:pt x="348" y="96"/>
                </a:moveTo>
                <a:lnTo>
                  <a:pt x="348" y="198"/>
                </a:lnTo>
                <a:lnTo>
                  <a:pt x="256" y="251"/>
                </a:lnTo>
                <a:lnTo>
                  <a:pt x="256" y="145"/>
                </a:lnTo>
                <a:lnTo>
                  <a:pt x="347" y="92"/>
                </a:lnTo>
                <a:cubicBezTo>
                  <a:pt x="348" y="93"/>
                  <a:pt x="348" y="95"/>
                  <a:pt x="348" y="96"/>
                </a:cubicBezTo>
                <a:close/>
              </a:path>
            </a:pathLst>
          </a:custGeom>
          <a:solidFill>
            <a:srgbClr val="2563EB">
            </a:srgbClr>
          </a:solidFill>
          <a:ln>
            <a:noFill/>
          </a:ln>
        </p:spPr>
      </p:sp>
      <p:sp>
        <p:nvSpPr>
          <p:cNvPr id="7" name="card-title">
          </p:cNvPr>
          <p:cNvSpPr txBox="1"/>
          <p:nvPr/>
        </p:nvSpPr>
        <p:spPr>
          <a:xfrm>
            <a:off x="1498600" y="1943100"/>
            <a:ext cx="3937000" cy="355600"/>
          </a:xfrm>
          <a:prstGeom prst="rect">
            <a:avLst/>
          </a:prstGeom>
          <a:noFill/>
        </p:spPr>
        <p:txBody>
          <a:bodyPr lIns="0" rIns="0" tIns="0" bIns="0" wrap="square" rtlCol="0" anchor="t">
            <a:normAutofit/>
          </a:bodyPr>
          <a:lstStyle/>
          <a:p>
            <a:pPr algn="l">
            </a:pPr>
            <a:r>
              <a:rPr lang="en-US" sz="1800" noProof="1" b="1">
                <a:solidFill>
                  <a:srgbClr val="2563EB">
                  </a:srgbClr>
                </a:solidFill>
                <a:latin typeface="思源黑体"/>
                <a:ea typeface="Microsoft YaHei"/>
                <a:cs typeface="思源黑体"/>
              </a:rPr>
              <a:t>核心优势矩阵</a:t>
            </a:r>
            <a:endParaRPr lang="en-US" sz="1800" noProof="1"/>
          </a:p>
        </p:txBody>
      </p:sp>
      <p:sp>
        <p:nvSpPr>
          <p:cNvPr id="8" name="card-desc">
          </p:cNvPr>
          <p:cNvSpPr txBox="1"/>
          <p:nvPr/>
        </p:nvSpPr>
        <p:spPr>
          <a:xfrm>
            <a:off x="1079500" y="2476500"/>
            <a:ext cx="4318000" cy="2921000"/>
          </a:xfrm>
          <a:prstGeom prst="rect">
            <a:avLst/>
          </a:prstGeom>
          <a:noFill/>
        </p:spPr>
        <p:txBody>
          <a:bodyPr lIns="0" rIns="0" tIns="0" bIns="0" wrap="square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• </a:t>
            </a:r>
            <a:r>
              <a:rPr lang="en-US" sz="1300" noProof="1" b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100% 本地离线</a:t>
            </a: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：毫秒级完成 OpenXML 构建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• </a:t>
            </a:r>
            <a:r>
              <a:rPr lang="en-US" sz="1300" noProof="1" b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富文本排版</a:t>
            </a: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：支持 </a:t>
            </a:r>
            <a:r>
              <a:rPr lang="en-US" sz="1300" noProof="1" u="sng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下划线</a:t>
            </a: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 与 </a:t>
            </a:r>
            <a:r>
              <a:rPr lang="en-US" sz="1300" noProof="1" strike="sngStrike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删除线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• </a:t>
            </a:r>
            <a:r>
              <a:rPr lang="en-US" sz="1300" noProof="1" b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原生 DrawingML</a:t>
            </a: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：矢量无损，支持二次编辑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• </a:t>
            </a:r>
            <a:r>
              <a:rPr lang="en-US" sz="1300" noProof="1" b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演讲者备注</a:t>
            </a:r>
            <a:r>
              <a:rPr lang="en-US" sz="1300" noProof="1">
                <a:solidFill>
                  <a:srgbClr val="1E293B">
                  </a:srgbClr>
                </a:solidFill>
                <a:latin typeface="思源黑体"/>
                <a:ea typeface="Microsoft YaHei"/>
                <a:cs typeface="思源黑体"/>
              </a:rPr>
              <a:t>：全自动生成 notesSlide 节点</a:t>
            </a:r>
            <a:endParaRPr lang="en-US" sz="1300" noProof="1"/>
          </a:p>
        </p:txBody>
      </p:sp>
      <p:graphicFrame>
        <p:nvGraphicFramePr>
          <p:cNvPr id="9" name="data-table"/>
          <p:cNvGraphicFramePr/>
          <p:nvPr/>
        </p:nvGraphicFramePr>
        <p:xfrm>
          <a:off x="6096000" y="1651000"/>
          <a:ext cx="5334000" cy="3175000"/>
        </p:xfrm>
        <a:graphic>
          <a:graphicData uri="http://schemas.openxmlformats.org/drawingml/2006/table">
            <a:tbl>
              <a:tblPr firstRow="0" bandRow="0">
              </a:tblPr>
              <a:tblGrid>
                <a:gridCol w="1866900"/>
                <a:gridCol w="1866900"/>
                <a:gridCol w="1600200"/>
              </a:tblGrid>
              <a:tr h="793750"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 b="1">
                          <a:solidFill>
                            <a:srgbClr val="2563EB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指标维度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  <a:solidFill>
                      <a:srgbClr val="EFF6FF">
                      </a:srgbClr>
                    </a:solidFill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 b="1">
                          <a:solidFill>
                            <a:srgbClr val="2563EB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传统方案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  <a:solidFill>
                      <a:srgbClr val="EFF6FF">
                      </a:srgbClr>
                    </a:solidFill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 b="1">
                          <a:solidFill>
                            <a:srgbClr val="2563EB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PPTD 方案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  <a:solidFill>
                      <a:srgbClr val="EFF6FF">
                      </a:srgbClr>
                    </a:solidFill>
                  </a:tcPr>
                </a:tc>
              </a:tr>
              <a:tr h="793750"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依赖项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无头浏览器 / Node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单二进制文件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</a:tr>
              <a:tr h="793750"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构建耗时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5 ~ 15 秒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&lt; 0.05 秒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</a:tr>
              <a:tr h="793750"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二次编辑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容易错位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lIns="0" rIns="0" tIns="0" bIns="0" wrap="square" rtlCol="0" anchor="ctr">
                      <a:normAutofit/>
                    </a:bodyPr>
                    <a:lstStyle/>
                    <a:p>
                      <a:pPr algn="ctr">
                      </a:pPr>
                      <a:r>
                        <a:rPr lang="en-US" sz="1800" noProof="1">
                          <a:solidFill>
                            <a:srgbClr val="000000">
                            </a:srgbClr>
                          </a:solidFill>
                          <a:latin typeface="思源黑体"/>
                          <a:ea typeface="Microsoft YaHei"/>
                          <a:cs typeface="思源黑体"/>
                        </a:rPr>
                        <a:t>完美支持</a:t>
                      </a:r>
                      <a:endParaRPr lang="en-US" sz="1800" noProof="1"/>
                    </a:p>
                  </a:txBody>
                  <a:tcPr marL="91440" marR="91440" marT="45720" marB="45720" anchor="ctr">
                    <a:lnL w="12700" cap="flat">
                      <a:solidFill>
                        <a:srgbClr val="000000">
                        </a:srgbClr>
                      </a:solidFill>
                      <a:prstDash val="solid"/>
                    </a:lnL>
                    <a:lnR w="12700" cap="flat">
                      <a:solidFill>
                        <a:srgbClr val="000000">
                        </a:srgbClr>
                      </a:solidFill>
                      <a:prstDash val="solid"/>
                    </a:lnR>
                    <a:lnT w="12700" cap="flat">
                      <a:solidFill>
                        <a:srgbClr val="000000">
                        </a:srgbClr>
                      </a:solidFill>
                      <a:prstDash val="solid"/>
                    </a:lnT>
                    <a:lnB w="12700" cap="flat">
                      <a:solidFill>
                        <a:srgbClr val="000000"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10" name="flow-arrow">
          </p:cNvPr>
          <p:cNvCxnSpPr/>
          <p:nvPr/>
        </p:nvCxnSpPr>
        <p:spPr>
          <a:xfrm>
            <a:off x="6096000" y="5334000"/>
            <a:ext cx="5207000" cy="0"/>
          </a:xfrm>
          <a:prstGeom prst="line">
            <a:avLst/>
          </a:prstGeom>
          <a:ln w="25400" cmpd="sng" cap="rnd">
            <a:solidFill>
              <a:srgbClr val="0EA5E9">
              </a:srgbClr>
            </a:solidFill>
            <a:prstDash val="solid"/>
            <a:round/>
            <a:tailEnd type="triangle" w="med" len="med"/>
          </a:ln>
        </p:spPr>
      </p:cxnSp>
      <p:sp>
        <p:nvSpPr>
          <p:cNvPr id="11" name="footer-source">
          </p:cNvPr>
          <p:cNvSpPr txBox="1"/>
          <p:nvPr/>
        </p:nvSpPr>
        <p:spPr>
          <a:xfrm>
            <a:off x="762000" y="6286500"/>
            <a:ext cx="7620000" cy="254000"/>
          </a:xfrm>
          <a:prstGeom prst="rect">
            <a:avLst/>
          </a:prstGeom>
          <a:noFill/>
        </p:spPr>
        <p:txBody>
          <a:bodyPr lIns="0" rIns="0" tIns="0" bIns="0" wrap="square" rtlCol="0" anchor="t">
            <a:normAutofit/>
          </a:bodyPr>
          <a:lstStyle/>
          <a:p>
            <a:pPr algn="l">
            </a:pPr>
            <a:r>
              <a:rPr lang="en-US" sz="1100" noProof="1">
                <a:solidFill>
                  <a:srgbClr val="64748B">
                  </a:srgbClr>
                </a:solidFill>
                <a:latin typeface="思源黑体"/>
                <a:ea typeface="Microsoft YaHei"/>
                <a:cs typeface="思源黑体"/>
              </a:rPr>
              <a:t>来源：open-pptd-skill 官方基准测试规范 (2026)</a:t>
            </a:r>
            <a:endParaRPr lang="en-US" sz="1100" noProof="1"/>
          </a:p>
        </p:txBody>
      </p:sp>
      <p:sp>
        <p:nvSpPr>
          <p:cNvPr id="12" name="footer-page">
          </p:cNvPr>
          <p:cNvSpPr txBox="1"/>
          <p:nvPr/>
        </p:nvSpPr>
        <p:spPr>
          <a:xfrm>
            <a:off x="10160000" y="6286500"/>
            <a:ext cx="1270000" cy="254000"/>
          </a:xfrm>
          <a:prstGeom prst="rect">
            <a:avLst/>
          </a:prstGeom>
          <a:noFill/>
        </p:spPr>
        <p:txBody>
          <a:bodyPr lIns="0" rIns="0" tIns="0" bIns="0" wrap="square" rtlCol="0" anchor="ctr">
            <a:normAutofit/>
          </a:bodyPr>
          <a:lstStyle/>
          <a:p>
            <a:pPr algn="r">
            </a:pPr>
            <a:r>
              <a:rPr lang="en-US" sz="1100" noProof="1">
                <a:solidFill>
                  <a:srgbClr val="64748B">
                  </a:srgbClr>
                </a:solidFill>
                <a:latin typeface="思源黑体"/>
                <a:ea typeface="Microsoft YaHei"/>
                <a:cs typeface="思源黑体"/>
              </a:rPr>
              <a:t>01</a:t>
            </a:r>
            <a:endParaRPr lang="en-US" sz="1100" noProof="1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lideForge">
  <a:themeElements>
    <a:clrScheme name="SlideForge">
      <a:dk1>
        <a:srgbClr val="1E293B"/>
      </a:dk1>
      <a:lt1>
        <a:srgbClr val="64748B"/>
      </a:lt1>
      <a:dk2>
        <a:srgbClr val="F8FAFC"/>
      </a:dk2>
      <a:lt2>
        <a:srgbClr val="E2E8F0"/>
      </a:lt2>
      <a:accent1>
        <a:srgbClr val="2563EB"/>
      </a:accent1>
      <a:accent2>
        <a:srgbClr val="FFFFFF"/>
      </a:accent2>
      <a:accent3>
        <a:srgbClr val="0EA5E9"/>
      </a:accent3>
      <a:accent4>
        <a:srgbClr val="EFF6FF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ideForge">
      <a:majorFont>
        <a:latin typeface="思源黑体"/>
        <a:ea typeface="Microsoft YaHei"/>
        <a:cs typeface="思源黑体"/>
        <a:font script="Hans" typeface="Microsoft YaHei"/>
        <a:font script="Hant" typeface="Microsoft JhengHei"/>
      </a:majorFont>
      <a:minorFont>
        <a:latin typeface="思源黑体"/>
        <a:ea typeface="Microsoft YaHei"/>
        <a:cs typeface="思源黑体"/>
        <a:font script="Hans" typeface="Microsoft YaHei"/>
        <a:font script="Hant" typeface="Microsoft JhengHei"/>
      </a:minorFont>
    </a:fontScheme>
    <a:fmtScheme name="SlideForg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>
          </a:lin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>
          </a:lin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</a:effectLst>
        </a:effectStyle>
        <a:effectStyle>
          <a:effectLst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shade val="75000"/>
                <a:satMod val="350000"/>
              </a:schemeClr>
            </a:gs>
            <a:gs pos="40000">
              <a:schemeClr val="phClr">
                <a:shade val="80000"/>
                <a:satMod val="35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path path="circle">
            <a:fillToRect l="50000" t="80000" r="-80000" b="5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SlideForge Starter Template</dc:title>
  <dcterms:modified xsi:type="dcterms:W3CDTF">1970-01-01T00:00:00Z</dcterms:modified>
</cp:coreProperties>
</file>